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9" r:id="rId2"/>
    <p:sldId id="260" r:id="rId3"/>
    <p:sldId id="261" r:id="rId4"/>
    <p:sldId id="262" r:id="rId5"/>
    <p:sldId id="265" r:id="rId6"/>
    <p:sldId id="266" r:id="rId7"/>
    <p:sldId id="267" r:id="rId8"/>
    <p:sldId id="268" r:id="rId9"/>
    <p:sldId id="269" r:id="rId10"/>
    <p:sldId id="270" r:id="rId11"/>
    <p:sldId id="271" r:id="rId12"/>
    <p:sldId id="272" r:id="rId13"/>
    <p:sldId id="273" r:id="rId14"/>
    <p:sldId id="274" r:id="rId15"/>
    <p:sldId id="275" r:id="rId16"/>
    <p:sldId id="276" r:id="rId17"/>
  </p:sldIdLst>
  <p:sldSz cx="9144000" cy="5143500" type="screen16x9"/>
  <p:notesSz cx="6858000" cy="9144000"/>
  <p:embeddedFontLst>
    <p:embeddedFont>
      <p:font typeface="Lato" panose="020F0502020204030203" pitchFamily="3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84010e2c83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84010e2c8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84010e2c8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84010e2c8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84010e2c83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84010e2c8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84010e2c8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84010e2c8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84010e2c83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84010e2c83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84010e2c8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84010e2c8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84010e2c83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84010e2c83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84010e2c83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84010e2c83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84010e2c83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84010e2c83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4010e2c83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84010e2c83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84010e2c83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84010e2c83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84010e2c83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84010e2c83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84010e2c83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84010e2c83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84010e2c83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84010e2c83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84010e2c83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84010e2c83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84010e2c83_0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84010e2c83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s.usfca.edu/~galles/visualization/RecFact.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Imprimir elementos en orden</a:t>
            </a:r>
            <a:endParaRPr/>
          </a:p>
        </p:txBody>
      </p:sp>
      <p:sp>
        <p:nvSpPr>
          <p:cNvPr id="152" name="Google Shape;152;p1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400"/>
              <a:t>	public void imprimirEnOrden(ListaDeEnterosEnlazada lista) {</a:t>
            </a:r>
            <a:endParaRPr sz="1400"/>
          </a:p>
          <a:p>
            <a:pPr marL="0" lvl="0" indent="0" algn="l" rtl="0">
              <a:spcBef>
                <a:spcPts val="0"/>
              </a:spcBef>
              <a:spcAft>
                <a:spcPts val="0"/>
              </a:spcAft>
              <a:buNone/>
            </a:pPr>
            <a:r>
              <a:rPr lang="es-419" sz="1400"/>
              <a:t>		lista.comenzar();</a:t>
            </a:r>
            <a:endParaRPr sz="1400"/>
          </a:p>
          <a:p>
            <a:pPr marL="0" lvl="0" indent="0" algn="l" rtl="0">
              <a:spcBef>
                <a:spcPts val="0"/>
              </a:spcBef>
              <a:spcAft>
                <a:spcPts val="0"/>
              </a:spcAft>
              <a:buNone/>
            </a:pPr>
            <a:r>
              <a:rPr lang="es-419" sz="1400"/>
              <a:t>		if (!lista.fin()) {</a:t>
            </a:r>
            <a:endParaRPr sz="1400"/>
          </a:p>
          <a:p>
            <a:pPr marL="0" lvl="0" indent="0" algn="l" rtl="0">
              <a:spcBef>
                <a:spcPts val="0"/>
              </a:spcBef>
              <a:spcAft>
                <a:spcPts val="0"/>
              </a:spcAft>
              <a:buNone/>
            </a:pPr>
            <a:r>
              <a:rPr lang="es-419" sz="1400"/>
              <a:t>			imprimirEnOrden2(lista);</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private void imprimirEnOrden2(ListaDeEnterosEnlazada lista) {</a:t>
            </a:r>
            <a:endParaRPr sz="1400"/>
          </a:p>
          <a:p>
            <a:pPr marL="0" lvl="0" indent="0" algn="l" rtl="0">
              <a:spcBef>
                <a:spcPts val="0"/>
              </a:spcBef>
              <a:spcAft>
                <a:spcPts val="0"/>
              </a:spcAft>
              <a:buNone/>
            </a:pPr>
            <a:r>
              <a:rPr lang="es-419" sz="1400"/>
              <a:t>		if (!lista.fin()) {</a:t>
            </a:r>
            <a:endParaRPr sz="1400"/>
          </a:p>
          <a:p>
            <a:pPr marL="0" lvl="0" indent="0" algn="l" rtl="0">
              <a:spcBef>
                <a:spcPts val="0"/>
              </a:spcBef>
              <a:spcAft>
                <a:spcPts val="0"/>
              </a:spcAft>
              <a:buNone/>
            </a:pPr>
            <a:r>
              <a:rPr lang="es-419" sz="1400"/>
              <a:t>			System.out.println(lista.proximo());</a:t>
            </a:r>
            <a:endParaRPr sz="1400"/>
          </a:p>
          <a:p>
            <a:pPr marL="0" lvl="0" indent="0" algn="l" rtl="0">
              <a:spcBef>
                <a:spcPts val="0"/>
              </a:spcBef>
              <a:spcAft>
                <a:spcPts val="0"/>
              </a:spcAft>
              <a:buNone/>
            </a:pPr>
            <a:r>
              <a:rPr lang="es-419" sz="1400"/>
              <a:t>			imprimirEnOrden2(lista);</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Imprimir elementos en orden inverso</a:t>
            </a:r>
            <a:endParaRPr/>
          </a:p>
        </p:txBody>
      </p:sp>
      <p:sp>
        <p:nvSpPr>
          <p:cNvPr id="158" name="Google Shape;158;p1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400"/>
              <a:t>	public void imprimirEnOrdenInverso(ListaDeEnterosEnlazada lista) {</a:t>
            </a:r>
            <a:endParaRPr sz="1400"/>
          </a:p>
          <a:p>
            <a:pPr marL="0" lvl="0" indent="0" algn="l" rtl="0">
              <a:spcBef>
                <a:spcPts val="0"/>
              </a:spcBef>
              <a:spcAft>
                <a:spcPts val="0"/>
              </a:spcAft>
              <a:buNone/>
            </a:pPr>
            <a:r>
              <a:rPr lang="es-419" sz="1400"/>
              <a:t>		lista.comenzar();</a:t>
            </a:r>
            <a:endParaRPr sz="1400"/>
          </a:p>
          <a:p>
            <a:pPr marL="0" lvl="0" indent="0" algn="l" rtl="0">
              <a:spcBef>
                <a:spcPts val="0"/>
              </a:spcBef>
              <a:spcAft>
                <a:spcPts val="0"/>
              </a:spcAft>
              <a:buNone/>
            </a:pPr>
            <a:r>
              <a:rPr lang="es-419" sz="1400"/>
              <a:t>		if (!lista.fin()) {</a:t>
            </a:r>
            <a:endParaRPr sz="1400"/>
          </a:p>
          <a:p>
            <a:pPr marL="0" lvl="0" indent="0" algn="l" rtl="0">
              <a:spcBef>
                <a:spcPts val="0"/>
              </a:spcBef>
              <a:spcAft>
                <a:spcPts val="0"/>
              </a:spcAft>
              <a:buNone/>
            </a:pPr>
            <a:r>
              <a:rPr lang="es-419" sz="1400"/>
              <a:t>			imprimirEnOrdenInverso2(lista);</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private void imprimirEnOrdenInverso2(ListaDeEnterosEnlazada lista) {</a:t>
            </a:r>
            <a:endParaRPr sz="1400"/>
          </a:p>
          <a:p>
            <a:pPr marL="0" lvl="0" indent="0" algn="l" rtl="0">
              <a:spcBef>
                <a:spcPts val="0"/>
              </a:spcBef>
              <a:spcAft>
                <a:spcPts val="0"/>
              </a:spcAft>
              <a:buNone/>
            </a:pPr>
            <a:r>
              <a:rPr lang="es-419" sz="1400"/>
              <a:t>		if (!lista.fin()) {</a:t>
            </a:r>
            <a:endParaRPr sz="1400"/>
          </a:p>
          <a:p>
            <a:pPr marL="0" lvl="0" indent="0" algn="l" rtl="0">
              <a:spcBef>
                <a:spcPts val="0"/>
              </a:spcBef>
              <a:spcAft>
                <a:spcPts val="0"/>
              </a:spcAft>
              <a:buNone/>
            </a:pPr>
            <a:r>
              <a:rPr lang="es-419" sz="1400"/>
              <a:t>			int numero = lista.proximo();</a:t>
            </a:r>
            <a:endParaRPr sz="1400"/>
          </a:p>
          <a:p>
            <a:pPr marL="0" lvl="0" indent="0" algn="l" rtl="0">
              <a:spcBef>
                <a:spcPts val="0"/>
              </a:spcBef>
              <a:spcAft>
                <a:spcPts val="0"/>
              </a:spcAft>
              <a:buNone/>
            </a:pPr>
            <a:r>
              <a:rPr lang="es-419" sz="1400"/>
              <a:t>			imprimirEnOrdenInverso2(lista);</a:t>
            </a:r>
            <a:endParaRPr sz="1400"/>
          </a:p>
          <a:p>
            <a:pPr marL="0" lvl="0" indent="0" algn="l" rtl="0">
              <a:spcBef>
                <a:spcPts val="0"/>
              </a:spcBef>
              <a:spcAft>
                <a:spcPts val="0"/>
              </a:spcAft>
              <a:buNone/>
            </a:pPr>
            <a:r>
              <a:rPr lang="es-419" sz="1400"/>
              <a:t>			System.out.println(numero);</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Pila de ejecución</a:t>
            </a:r>
            <a:endParaRPr/>
          </a:p>
        </p:txBody>
      </p:sp>
      <p:sp>
        <p:nvSpPr>
          <p:cNvPr id="164" name="Google Shape;164;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s-419"/>
              <a:t>Simulador</a:t>
            </a:r>
            <a:endParaRPr/>
          </a:p>
          <a:p>
            <a:pPr marL="457200" lvl="0" indent="0" algn="ctr" rtl="0">
              <a:spcBef>
                <a:spcPts val="1600"/>
              </a:spcBef>
              <a:spcAft>
                <a:spcPts val="0"/>
              </a:spcAft>
              <a:buNone/>
            </a:pPr>
            <a:r>
              <a:rPr lang="es-419" sz="2000" u="sng">
                <a:solidFill>
                  <a:schemeClr val="hlink"/>
                </a:solidFill>
                <a:latin typeface="Arial"/>
                <a:ea typeface="Arial"/>
                <a:cs typeface="Arial"/>
                <a:sym typeface="Arial"/>
                <a:hlinkClick r:id="rId3"/>
              </a:rPr>
              <a:t>https://www.cs.usfca.edu/~galles/visualization/RecFact.html</a:t>
            </a:r>
            <a:endParaRPr sz="2000"/>
          </a:p>
          <a:p>
            <a:pPr marL="457200" lvl="0" indent="-311150" algn="l" rtl="0">
              <a:spcBef>
                <a:spcPts val="1600"/>
              </a:spcBef>
              <a:spcAft>
                <a:spcPts val="0"/>
              </a:spcAft>
              <a:buSzPts val="1300"/>
              <a:buChar char="●"/>
            </a:pPr>
            <a:r>
              <a:rPr lang="es-419"/>
              <a:t>Google: </a:t>
            </a:r>
            <a:endParaRPr/>
          </a:p>
          <a:p>
            <a:pPr marL="0" lvl="0" indent="0" algn="ctr" rtl="0">
              <a:spcBef>
                <a:spcPts val="1600"/>
              </a:spcBef>
              <a:spcAft>
                <a:spcPts val="1600"/>
              </a:spcAft>
              <a:buNone/>
            </a:pPr>
            <a:r>
              <a:rPr lang="es-419" sz="2000"/>
              <a:t>San Francisco University recursive simulator</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71" name="Google Shape;171;p19"/>
          <p:cNvPicPr preferRelativeResize="0"/>
          <p:nvPr/>
        </p:nvPicPr>
        <p:blipFill>
          <a:blip r:embed="rId3">
            <a:alphaModFix/>
          </a:blip>
          <a:stretch>
            <a:fillRect/>
          </a:stretch>
        </p:blipFill>
        <p:spPr>
          <a:xfrm>
            <a:off x="743400" y="171550"/>
            <a:ext cx="7845850" cy="4800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sumadorArbol</a:t>
            </a:r>
            <a:endParaRPr/>
          </a:p>
        </p:txBody>
      </p:sp>
      <p:sp>
        <p:nvSpPr>
          <p:cNvPr id="188" name="Google Shape;188;p22"/>
          <p:cNvSpPr txBox="1">
            <a:spLocks noGrp="1"/>
          </p:cNvSpPr>
          <p:nvPr>
            <p:ph type="body" idx="1"/>
          </p:nvPr>
        </p:nvSpPr>
        <p:spPr>
          <a:xfrm>
            <a:off x="1297500" y="1578400"/>
            <a:ext cx="45840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400"/>
              <a:t>Escribir un método en la clase Sumador, que dado un árbol binario, devuelva la suma de todos sus elementos.</a:t>
            </a:r>
            <a:endParaRPr sz="1400"/>
          </a:p>
          <a:p>
            <a:pPr marL="0" lvl="0" indent="0" algn="l" rtl="0">
              <a:spcBef>
                <a:spcPts val="1600"/>
              </a:spcBef>
              <a:spcAft>
                <a:spcPts val="1600"/>
              </a:spcAft>
              <a:buNone/>
            </a:pPr>
            <a:r>
              <a:rPr lang="es-419" sz="1400"/>
              <a:t>En el árbol de ejemplo deberá devolver:  24</a:t>
            </a:r>
            <a:endParaRPr sz="1400"/>
          </a:p>
        </p:txBody>
      </p:sp>
      <p:pic>
        <p:nvPicPr>
          <p:cNvPr id="189" name="Google Shape;189;p22"/>
          <p:cNvPicPr preferRelativeResize="0"/>
          <p:nvPr/>
        </p:nvPicPr>
        <p:blipFill>
          <a:blip r:embed="rId3">
            <a:alphaModFix/>
          </a:blip>
          <a:stretch>
            <a:fillRect/>
          </a:stretch>
        </p:blipFill>
        <p:spPr>
          <a:xfrm>
            <a:off x="6446250" y="1763600"/>
            <a:ext cx="1673200" cy="1610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419"/>
              <a:t>Árbol espejo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Ejercicio</a:t>
            </a:r>
            <a:endParaRPr/>
          </a:p>
        </p:txBody>
      </p:sp>
      <p:pic>
        <p:nvPicPr>
          <p:cNvPr id="200" name="Google Shape;200;p24"/>
          <p:cNvPicPr preferRelativeResize="0"/>
          <p:nvPr/>
        </p:nvPicPr>
        <p:blipFill>
          <a:blip r:embed="rId3">
            <a:alphaModFix/>
          </a:blip>
          <a:stretch>
            <a:fillRect/>
          </a:stretch>
        </p:blipFill>
        <p:spPr>
          <a:xfrm>
            <a:off x="857000" y="2218650"/>
            <a:ext cx="6936725" cy="1932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Solución</a:t>
            </a:r>
            <a:endParaRPr/>
          </a:p>
        </p:txBody>
      </p:sp>
      <p:sp>
        <p:nvSpPr>
          <p:cNvPr id="206" name="Google Shape;206;p2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sz="1400"/>
              <a:t>public ArbolBinario&lt;T&gt; espejo() {</a:t>
            </a:r>
            <a:endParaRPr sz="1400"/>
          </a:p>
          <a:p>
            <a:pPr marL="0" lvl="0" indent="0" algn="l" rtl="0">
              <a:spcBef>
                <a:spcPts val="0"/>
              </a:spcBef>
              <a:spcAft>
                <a:spcPts val="0"/>
              </a:spcAft>
              <a:buNone/>
            </a:pPr>
            <a:r>
              <a:rPr lang="es-419" sz="1400"/>
              <a:t>	ArbolBinario&lt;T&gt; arbol_espejo = new ArbolBinario&lt;T&gt;(this.getDatoRaiz());</a:t>
            </a:r>
            <a:endParaRPr sz="1400"/>
          </a:p>
          <a:p>
            <a:pPr marL="0" lvl="0" indent="0" algn="l" rtl="0">
              <a:spcBef>
                <a:spcPts val="0"/>
              </a:spcBef>
              <a:spcAft>
                <a:spcPts val="0"/>
              </a:spcAft>
              <a:buNone/>
            </a:pPr>
            <a:r>
              <a:rPr lang="es-419" sz="1400"/>
              <a:t>	if (!this.getHijoIzquierdo().esVacio()) {</a:t>
            </a:r>
            <a:endParaRPr sz="1400"/>
          </a:p>
          <a:p>
            <a:pPr marL="0" lvl="0" indent="0" algn="l" rtl="0">
              <a:spcBef>
                <a:spcPts val="0"/>
              </a:spcBef>
              <a:spcAft>
                <a:spcPts val="0"/>
              </a:spcAft>
              <a:buNone/>
            </a:pPr>
            <a:r>
              <a:rPr lang="es-419" sz="1400"/>
              <a:t>		arbol_espejo.agregarHijoDerecho(this.getHijoIzquierdo().espejo());</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if (!this.getHijoDerecho().esVacio()) {</a:t>
            </a:r>
            <a:endParaRPr sz="1400"/>
          </a:p>
          <a:p>
            <a:pPr marL="0" lvl="0" indent="0" algn="l" rtl="0">
              <a:spcBef>
                <a:spcPts val="0"/>
              </a:spcBef>
              <a:spcAft>
                <a:spcPts val="0"/>
              </a:spcAft>
              <a:buNone/>
            </a:pPr>
            <a:r>
              <a:rPr lang="es-419" sz="1400"/>
              <a:t>		arbol_espejo.agregarHijoIzquierdo(this.getHijoDerecho().espejo());</a:t>
            </a:r>
            <a:endParaRPr sz="1400"/>
          </a:p>
          <a:p>
            <a:pPr marL="0" lvl="0" indent="0" algn="l" rtl="0">
              <a:spcBef>
                <a:spcPts val="0"/>
              </a:spcBef>
              <a:spcAft>
                <a:spcPts val="0"/>
              </a:spcAft>
              <a:buNone/>
            </a:pPr>
            <a:r>
              <a:rPr lang="es-419" sz="1400"/>
              <a:t>	}</a:t>
            </a:r>
            <a:endParaRPr sz="1400"/>
          </a:p>
          <a:p>
            <a:pPr marL="0" lvl="0" indent="0" algn="l" rtl="0">
              <a:spcBef>
                <a:spcPts val="0"/>
              </a:spcBef>
              <a:spcAft>
                <a:spcPts val="0"/>
              </a:spcAft>
              <a:buNone/>
            </a:pPr>
            <a:r>
              <a:rPr lang="es-419" sz="1400"/>
              <a:t>	return arbol_espejo ;</a:t>
            </a:r>
            <a:endParaRPr sz="1400"/>
          </a:p>
          <a:p>
            <a:pPr marL="0" lvl="0" indent="0" algn="l" rtl="0">
              <a:spcBef>
                <a:spcPts val="0"/>
              </a:spcBef>
              <a:spcAft>
                <a:spcPts val="0"/>
              </a:spcAft>
              <a:buNone/>
            </a:pPr>
            <a:r>
              <a:rPr lang="es-419" sz="1400"/>
              <a:t>}</a:t>
            </a:r>
            <a:endParaRPr sz="1400"/>
          </a:p>
          <a:p>
            <a:pPr marL="0" lvl="0" indent="0" algn="l" rtl="0">
              <a:spcBef>
                <a:spcPts val="0"/>
              </a:spcBef>
              <a:spcAft>
                <a:spcPts val="0"/>
              </a:spcAft>
              <a:buNone/>
            </a:pPr>
            <a:endParaRPr sz="1400"/>
          </a:p>
          <a:p>
            <a:pPr marL="0" lvl="0" indent="0" algn="l" rtl="0">
              <a:spcBef>
                <a:spcPts val="0"/>
              </a:spcBef>
              <a:spcAft>
                <a:spcPts val="16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419"/>
              <a:t>Trayectoria pesada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Enunciado</a:t>
            </a:r>
            <a:endParaRPr/>
          </a:p>
        </p:txBody>
      </p:sp>
      <p:sp>
        <p:nvSpPr>
          <p:cNvPr id="217" name="Google Shape;217;p2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18" name="Google Shape;218;p27"/>
          <p:cNvPicPr preferRelativeResize="0"/>
          <p:nvPr/>
        </p:nvPicPr>
        <p:blipFill rotWithShape="1">
          <a:blip r:embed="rId3">
            <a:alphaModFix/>
          </a:blip>
          <a:srcRect/>
          <a:stretch/>
        </p:blipFill>
        <p:spPr>
          <a:xfrm>
            <a:off x="1297500" y="1567550"/>
            <a:ext cx="7038900" cy="24264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Forma de encarar el ejercicio</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4" name="Google Shape;224;p2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El ejercicio se puede dividir en tres partes:</a:t>
            </a:r>
            <a:endParaRPr/>
          </a:p>
          <a:p>
            <a:pPr marL="457200" lvl="0" indent="-311150" algn="l" rtl="0">
              <a:spcBef>
                <a:spcPts val="1600"/>
              </a:spcBef>
              <a:spcAft>
                <a:spcPts val="0"/>
              </a:spcAft>
              <a:buSzPts val="1300"/>
              <a:buAutoNum type="arabicPeriod"/>
            </a:pPr>
            <a:r>
              <a:rPr lang="es-419"/>
              <a:t>Recorrido del árbol</a:t>
            </a:r>
            <a:endParaRPr/>
          </a:p>
          <a:p>
            <a:pPr marL="457200" lvl="0" indent="-311150" algn="l" rtl="0">
              <a:spcBef>
                <a:spcPts val="0"/>
              </a:spcBef>
              <a:spcAft>
                <a:spcPts val="0"/>
              </a:spcAft>
              <a:buSzPts val="1300"/>
              <a:buAutoNum type="arabicPeriod"/>
            </a:pPr>
            <a:r>
              <a:rPr lang="es-419"/>
              <a:t>Procesamiento de los nodos</a:t>
            </a:r>
            <a:endParaRPr/>
          </a:p>
          <a:p>
            <a:pPr marL="457200" lvl="0" indent="-311150" algn="l" rtl="0">
              <a:spcBef>
                <a:spcPts val="0"/>
              </a:spcBef>
              <a:spcAft>
                <a:spcPts val="0"/>
              </a:spcAft>
              <a:buSzPts val="1300"/>
              <a:buAutoNum type="arabicPeriod"/>
            </a:pPr>
            <a:r>
              <a:rPr lang="es-419"/>
              <a:t>Almacenamiento del resultado</a:t>
            </a:r>
            <a:endParaRPr/>
          </a:p>
          <a:p>
            <a:pPr marL="0" lvl="0" indent="0" algn="l" rtl="0">
              <a:spcBef>
                <a:spcPts val="1600"/>
              </a:spcBef>
              <a:spcAft>
                <a:spcPts val="1600"/>
              </a:spcAft>
              <a:buNone/>
            </a:pPr>
            <a:r>
              <a:rPr lang="es-419"/>
              <a:t>Existen diferentes maneras de recorrer árboles, cada cual con sus ventajas y desventajas. Un recorrido recursivo puede ser interesante, en especial el preorden o postorden. Cualquiera de estos se puede aplicar al ejercicio.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Implementación</a:t>
            </a:r>
            <a:endParaRPr/>
          </a:p>
        </p:txBody>
      </p:sp>
      <p:sp>
        <p:nvSpPr>
          <p:cNvPr id="230" name="Google Shape;230;p2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31" name="Google Shape;231;p29"/>
          <p:cNvPicPr preferRelativeResize="0"/>
          <p:nvPr/>
        </p:nvPicPr>
        <p:blipFill>
          <a:blip r:embed="rId3">
            <a:alphaModFix/>
          </a:blip>
          <a:stretch>
            <a:fillRect/>
          </a:stretch>
        </p:blipFill>
        <p:spPr>
          <a:xfrm>
            <a:off x="140575" y="1567549"/>
            <a:ext cx="7253230" cy="2716550"/>
          </a:xfrm>
          <a:prstGeom prst="rect">
            <a:avLst/>
          </a:prstGeom>
          <a:noFill/>
          <a:ln>
            <a:noFill/>
          </a:ln>
        </p:spPr>
      </p:pic>
      <p:sp>
        <p:nvSpPr>
          <p:cNvPr id="232" name="Google Shape;232;p29"/>
          <p:cNvSpPr txBox="1"/>
          <p:nvPr/>
        </p:nvSpPr>
        <p:spPr>
          <a:xfrm>
            <a:off x="5523300" y="529200"/>
            <a:ext cx="3207300" cy="914100"/>
          </a:xfrm>
          <a:prstGeom prst="rect">
            <a:avLst/>
          </a:prstGeom>
          <a:noFill/>
          <a:ln>
            <a:noFill/>
          </a:ln>
        </p:spPr>
        <p:txBody>
          <a:bodyPr spcFirstLastPara="1" wrap="square" lIns="90000" tIns="46800" rIns="90000" bIns="46800" anchor="t" anchorCtr="0">
            <a:noAutofit/>
          </a:bodyPr>
          <a:lstStyle/>
          <a:p>
            <a:pPr marL="0" marR="0" lvl="0" indent="0" algn="just" rtl="0">
              <a:lnSpc>
                <a:spcPct val="100000"/>
              </a:lnSpc>
              <a:spcBef>
                <a:spcPts val="0"/>
              </a:spcBef>
              <a:spcAft>
                <a:spcPts val="0"/>
              </a:spcAft>
              <a:buClr>
                <a:srgbClr val="000000"/>
              </a:buClr>
              <a:buSzPts val="1200"/>
              <a:buFont typeface="Arial"/>
              <a:buNone/>
            </a:pPr>
            <a:r>
              <a:rPr lang="es-419" sz="1200" b="0" i="0" u="none">
                <a:solidFill>
                  <a:srgbClr val="FFFFFF"/>
                </a:solidFill>
                <a:latin typeface="Arial"/>
                <a:ea typeface="Arial"/>
                <a:cs typeface="Arial"/>
                <a:sym typeface="Arial"/>
              </a:rPr>
              <a:t>En el recorrido en preorden contamos con tres parámetros: el árbol (</a:t>
            </a:r>
            <a:r>
              <a:rPr lang="es-419" sz="1200" b="1" i="0" u="none">
                <a:solidFill>
                  <a:srgbClr val="FFFFFF"/>
                </a:solidFill>
                <a:latin typeface="Arial"/>
                <a:ea typeface="Arial"/>
                <a:cs typeface="Arial"/>
                <a:sym typeface="Arial"/>
              </a:rPr>
              <a:t>arbol</a:t>
            </a:r>
            <a:r>
              <a:rPr lang="es-419" sz="1200" b="0" i="0" u="none">
                <a:solidFill>
                  <a:srgbClr val="FFFFFF"/>
                </a:solidFill>
                <a:latin typeface="Arial"/>
                <a:ea typeface="Arial"/>
                <a:cs typeface="Arial"/>
                <a:sym typeface="Arial"/>
              </a:rPr>
              <a:t>), el numero de nivel actual (</a:t>
            </a:r>
            <a:r>
              <a:rPr lang="es-419" sz="1200" b="1" i="0" u="none">
                <a:solidFill>
                  <a:srgbClr val="FFFFFF"/>
                </a:solidFill>
                <a:latin typeface="Arial"/>
                <a:ea typeface="Arial"/>
                <a:cs typeface="Arial"/>
                <a:sym typeface="Arial"/>
              </a:rPr>
              <a:t>nivel</a:t>
            </a:r>
            <a:r>
              <a:rPr lang="es-419" sz="1200" b="0" i="0" u="none">
                <a:solidFill>
                  <a:srgbClr val="FFFFFF"/>
                </a:solidFill>
                <a:latin typeface="Arial"/>
                <a:ea typeface="Arial"/>
                <a:cs typeface="Arial"/>
                <a:sym typeface="Arial"/>
              </a:rPr>
              <a:t>), la suma acumulada desde la raíz hasta el nodo actual (</a:t>
            </a:r>
            <a:r>
              <a:rPr lang="es-419" sz="1200" b="1" i="0" u="none">
                <a:solidFill>
                  <a:srgbClr val="FFFFFF"/>
                </a:solidFill>
                <a:latin typeface="Arial"/>
                <a:ea typeface="Arial"/>
                <a:cs typeface="Arial"/>
                <a:sym typeface="Arial"/>
              </a:rPr>
              <a:t>sumaParcial</a:t>
            </a:r>
            <a:r>
              <a:rPr lang="es-419" sz="1200" b="0" i="0" u="none">
                <a:solidFill>
                  <a:srgbClr val="FFFFFF"/>
                </a:solidFill>
                <a:latin typeface="Arial"/>
                <a:ea typeface="Arial"/>
                <a:cs typeface="Arial"/>
                <a:sym typeface="Arial"/>
              </a:rPr>
              <a:t>) y la lista resultado (</a:t>
            </a:r>
            <a:r>
              <a:rPr lang="es-419" sz="1200" b="1" i="0" u="none">
                <a:solidFill>
                  <a:srgbClr val="FFFFFF"/>
                </a:solidFill>
                <a:latin typeface="Arial"/>
                <a:ea typeface="Arial"/>
                <a:cs typeface="Arial"/>
                <a:sym typeface="Arial"/>
              </a:rPr>
              <a:t>lista</a:t>
            </a:r>
            <a:r>
              <a:rPr lang="es-419" sz="1200" b="0" i="0" u="none">
                <a:solidFill>
                  <a:srgbClr val="FFFFFF"/>
                </a:solidFill>
                <a:latin typeface="Arial"/>
                <a:ea typeface="Arial"/>
                <a:cs typeface="Arial"/>
                <a:sym typeface="Arial"/>
              </a:rPr>
              <a:t>).</a:t>
            </a:r>
            <a:endParaRPr>
              <a:solidFill>
                <a:srgbClr val="FFFFFF"/>
              </a:solidFill>
            </a:endParaRPr>
          </a:p>
        </p:txBody>
      </p:sp>
      <p:cxnSp>
        <p:nvCxnSpPr>
          <p:cNvPr id="233" name="Google Shape;233;p29"/>
          <p:cNvCxnSpPr>
            <a:stCxn id="232" idx="2"/>
          </p:cNvCxnSpPr>
          <p:nvPr/>
        </p:nvCxnSpPr>
        <p:spPr>
          <a:xfrm flipH="1">
            <a:off x="5490750" y="1443300"/>
            <a:ext cx="1636200" cy="1247700"/>
          </a:xfrm>
          <a:prstGeom prst="straightConnector1">
            <a:avLst/>
          </a:prstGeom>
          <a:noFill/>
          <a:ln w="19050" cap="flat" cmpd="sng">
            <a:solidFill>
              <a:srgbClr val="000000"/>
            </a:solidFill>
            <a:prstDash val="solid"/>
            <a:round/>
            <a:headEnd type="none" w="med" len="med"/>
            <a:tailEnd type="triangle" w="med" len="med"/>
          </a:ln>
        </p:spPr>
      </p:cxnSp>
      <p:sp>
        <p:nvSpPr>
          <p:cNvPr id="234" name="Google Shape;234;p29"/>
          <p:cNvSpPr txBox="1"/>
          <p:nvPr/>
        </p:nvSpPr>
        <p:spPr>
          <a:xfrm>
            <a:off x="7650150" y="2768525"/>
            <a:ext cx="1493700" cy="124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a:solidFill>
                  <a:srgbClr val="FFFFFF"/>
                </a:solidFill>
              </a:rPr>
              <a:t>Tener los métodos auxiliares como </a:t>
            </a:r>
            <a:r>
              <a:rPr lang="es-419" sz="1200" b="1">
                <a:solidFill>
                  <a:srgbClr val="FFFFFF"/>
                </a:solidFill>
              </a:rPr>
              <a:t>private</a:t>
            </a:r>
            <a:r>
              <a:rPr lang="es-419" sz="1200">
                <a:solidFill>
                  <a:srgbClr val="FFFFFF"/>
                </a:solidFill>
              </a:rPr>
              <a:t> permite que los detalles de implementación permanezcan ocultos.</a:t>
            </a:r>
            <a:endParaRPr>
              <a:solidFill>
                <a:srgbClr val="FFFFFF"/>
              </a:solidFill>
            </a:endParaRPr>
          </a:p>
        </p:txBody>
      </p:sp>
      <p:sp>
        <p:nvSpPr>
          <p:cNvPr id="235" name="Google Shape;235;p29"/>
          <p:cNvSpPr/>
          <p:nvPr/>
        </p:nvSpPr>
        <p:spPr>
          <a:xfrm>
            <a:off x="7422275" y="2843025"/>
            <a:ext cx="314700" cy="14412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 comunes</a:t>
            </a:r>
            <a:endParaRPr/>
          </a:p>
        </p:txBody>
      </p:sp>
      <p:sp>
        <p:nvSpPr>
          <p:cNvPr id="241" name="Google Shape;241;p30"/>
          <p:cNvSpPr txBox="1">
            <a:spLocks noGrp="1"/>
          </p:cNvSpPr>
          <p:nvPr>
            <p:ph type="body" idx="1"/>
          </p:nvPr>
        </p:nvSpPr>
        <p:spPr>
          <a:xfrm>
            <a:off x="1297500" y="1110350"/>
            <a:ext cx="7038900" cy="29112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AutoNum type="arabicPeriod"/>
            </a:pPr>
            <a:r>
              <a:rPr lang="es-419" sz="1500"/>
              <a:t> No devolver los valores. El enunciado pide devolver los valores, por lo que imprimirlos mediante System.out.print(); no sería correcto. Hace falta utilizar una estructura que permita almacenar una cantidad variable de elementos para luego devolver la estructura completa.</a:t>
            </a:r>
            <a:endParaRPr sz="1500"/>
          </a:p>
          <a:p>
            <a:pPr marL="457200" lvl="0" indent="-323850" algn="l" rtl="0">
              <a:spcBef>
                <a:spcPts val="0"/>
              </a:spcBef>
              <a:spcAft>
                <a:spcPts val="0"/>
              </a:spcAft>
              <a:buSzPts val="1500"/>
              <a:buAutoNum type="arabicPeriod"/>
            </a:pPr>
            <a:r>
              <a:rPr lang="es-419" sz="1500"/>
              <a:t> No sumar el valor de la hoja como parte de la trayectoria. Al momento de agregar el valor de la trayectoria hace falta incluir el valor de la hoja multiplicado por su nivel. Manteniendo la idea explicada hasta ahora, el siguiente resultado es incorrecto:	</a:t>
            </a:r>
            <a:endParaRPr sz="1500"/>
          </a:p>
          <a:p>
            <a:pPr marL="0" lvl="0" indent="0" algn="l" rtl="0">
              <a:spcBef>
                <a:spcPts val="1600"/>
              </a:spcBef>
              <a:spcAft>
                <a:spcPts val="0"/>
              </a:spcAft>
              <a:buNone/>
            </a:pPr>
            <a:r>
              <a:rPr lang="es-419" sz="1500"/>
              <a:t>private void recorrido(ArbolBinario&lt;Integer&gt; arbol, int nivel, </a:t>
            </a:r>
            <a:endParaRPr sz="1500"/>
          </a:p>
          <a:p>
            <a:pPr marL="0" lvl="0" indent="0" algn="l" rtl="0">
              <a:spcBef>
                <a:spcPts val="0"/>
              </a:spcBef>
              <a:spcAft>
                <a:spcPts val="0"/>
              </a:spcAft>
              <a:buNone/>
            </a:pPr>
            <a:r>
              <a:rPr lang="es-419" sz="1500"/>
              <a:t>                                                          int sumaParcial,  ListaGenerica&lt;Integer&gt; lista) {</a:t>
            </a:r>
            <a:endParaRPr sz="1500"/>
          </a:p>
          <a:p>
            <a:pPr marL="0" lvl="0" indent="0" algn="l" rtl="0">
              <a:spcBef>
                <a:spcPts val="0"/>
              </a:spcBef>
              <a:spcAft>
                <a:spcPts val="0"/>
              </a:spcAft>
              <a:buNone/>
            </a:pPr>
            <a:r>
              <a:rPr lang="es-419" sz="1500"/>
              <a:t>	if (arbol.esHoja()) {</a:t>
            </a:r>
            <a:endParaRPr sz="1500"/>
          </a:p>
          <a:p>
            <a:pPr marL="0" lvl="0" indent="0" algn="l" rtl="0">
              <a:spcBef>
                <a:spcPts val="0"/>
              </a:spcBef>
              <a:spcAft>
                <a:spcPts val="0"/>
              </a:spcAft>
              <a:buNone/>
            </a:pPr>
            <a:r>
              <a:rPr lang="es-419" sz="1500"/>
              <a:t>	             lista.agregarFinal(sumaParcial); //Incorrecto falta calcular la hoja.</a:t>
            </a:r>
            <a:endParaRPr sz="1500"/>
          </a:p>
          <a:p>
            <a:pPr marL="0" lvl="0" indent="0" algn="l" rtl="0">
              <a:spcBef>
                <a:spcPts val="0"/>
              </a:spcBef>
              <a:spcAft>
                <a:spcPts val="0"/>
              </a:spcAft>
              <a:buNone/>
            </a:pPr>
            <a:r>
              <a:rPr lang="es-419" sz="1500"/>
              <a:t>	 }</a:t>
            </a:r>
            <a:endParaRPr sz="1500"/>
          </a:p>
          <a:p>
            <a:pPr marL="0" lvl="0" indent="0" algn="l" rtl="0">
              <a:spcBef>
                <a:spcPts val="0"/>
              </a:spcBef>
              <a:spcAft>
                <a:spcPts val="0"/>
              </a:spcAft>
              <a:buNone/>
            </a:pPr>
            <a:r>
              <a:rPr lang="es-419" sz="1500"/>
              <a:t>}</a:t>
            </a:r>
            <a:endParaRPr sz="1500"/>
          </a:p>
          <a:p>
            <a:pPr marL="0" lvl="0" indent="0" algn="l" rtl="0">
              <a:spcBef>
                <a:spcPts val="1600"/>
              </a:spcBef>
              <a:spcAft>
                <a:spcPts val="0"/>
              </a:spcAft>
              <a:buNone/>
            </a:pPr>
            <a:endParaRPr sz="1500"/>
          </a:p>
          <a:p>
            <a:pPr marL="0" lvl="0" indent="0" algn="l" rtl="0">
              <a:spcBef>
                <a:spcPts val="1600"/>
              </a:spcBef>
              <a:spcAft>
                <a:spcPts val="1600"/>
              </a:spcAft>
              <a:buNone/>
            </a:pP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 comunes</a:t>
            </a:r>
            <a:endParaRPr/>
          </a:p>
        </p:txBody>
      </p:sp>
      <p:sp>
        <p:nvSpPr>
          <p:cNvPr id="247" name="Google Shape;247;p31"/>
          <p:cNvSpPr txBox="1">
            <a:spLocks noGrp="1"/>
          </p:cNvSpPr>
          <p:nvPr>
            <p:ph type="body" idx="1"/>
          </p:nvPr>
        </p:nvSpPr>
        <p:spPr>
          <a:xfrm>
            <a:off x="1297500" y="1421525"/>
            <a:ext cx="7038900" cy="3439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419" sz="1400"/>
              <a:t>3. Uso del operador “++" a derecha para incrementar el nivel. El operador “++" a derecha, por ejemplo en el caso de “nivel++", hace que el valor de la variable nivel se modifique, pero este incremento se realiza después de devolver el valor original. Si se usa nivel++ como incremento de nivel, y esta expresión esta directamente en el llamado recursivo, el efecto deseado no se cumplirá. En cada llamada recursiva, el parámetro n siempre tomara el mismo valor, y no se estará incrementando el nivel.</a:t>
            </a:r>
            <a:endParaRPr sz="1400"/>
          </a:p>
          <a:p>
            <a:pPr marL="0" lvl="0" indent="0" algn="just" rtl="0">
              <a:spcBef>
                <a:spcPts val="1600"/>
              </a:spcBef>
              <a:spcAft>
                <a:spcPts val="0"/>
              </a:spcAft>
              <a:buNone/>
            </a:pPr>
            <a:r>
              <a:rPr lang="es-419" sz="1400"/>
              <a:t>4. De acuerdo a la definición vista en clase de ArbolBinario, los métodos getHijoIzquierdo y getHijoDerecho de ArbolBinario nunca devuelven null, y por lo tanto la siguiente pregunta: </a:t>
            </a:r>
            <a:endParaRPr sz="1400"/>
          </a:p>
          <a:p>
            <a:pPr marL="0" lvl="0" indent="0" algn="just" rtl="0">
              <a:spcBef>
                <a:spcPts val="1600"/>
              </a:spcBef>
              <a:spcAft>
                <a:spcPts val="0"/>
              </a:spcAft>
              <a:buNone/>
            </a:pPr>
            <a:r>
              <a:rPr lang="es-419" sz="1400"/>
              <a:t>	if (arbol.getHijoIzquierdo( )==null)  // nunca va a ser True.</a:t>
            </a:r>
            <a:endParaRPr sz="1400"/>
          </a:p>
          <a:p>
            <a:pPr marL="0" lvl="0" indent="0" algn="just" rtl="0">
              <a:spcBef>
                <a:spcPts val="1600"/>
              </a:spcBef>
              <a:spcAft>
                <a:spcPts val="0"/>
              </a:spcAft>
              <a:buNone/>
            </a:pPr>
            <a:endParaRPr sz="1400"/>
          </a:p>
          <a:p>
            <a:pPr marL="0" lvl="0" indent="0" algn="just" rtl="0">
              <a:spcBef>
                <a:spcPts val="1600"/>
              </a:spcBef>
              <a:spcAft>
                <a:spcPts val="0"/>
              </a:spcAft>
              <a:buNone/>
            </a:pPr>
            <a:endParaRPr sz="1400"/>
          </a:p>
          <a:p>
            <a:pPr marL="0" lvl="0" indent="0" algn="just" rtl="0">
              <a:spcBef>
                <a:spcPts val="1600"/>
              </a:spcBef>
              <a:spcAft>
                <a:spcPts val="1600"/>
              </a:spcAft>
              <a:buNone/>
            </a:pP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Errores comunes</a:t>
            </a:r>
            <a:endParaRPr/>
          </a:p>
        </p:txBody>
      </p:sp>
      <p:sp>
        <p:nvSpPr>
          <p:cNvPr id="253" name="Google Shape;253;p3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s-419" sz="1500"/>
              <a:t>5. Preguntar si this es null. El lenguaje Java garantiza que “this” jamás pueda ser null, ya que al momento de invocar un método de instancia en una variable con referencia null, se dispara un error de NullPointerException.</a:t>
            </a:r>
            <a:endParaRPr sz="1500"/>
          </a:p>
          <a:p>
            <a:pPr marL="0" lvl="0" indent="0" algn="just" rtl="0">
              <a:spcBef>
                <a:spcPts val="1600"/>
              </a:spcBef>
              <a:spcAft>
                <a:spcPts val="1600"/>
              </a:spcAft>
              <a:buNone/>
            </a:pPr>
            <a:r>
              <a:rPr lang="es-419" sz="1500"/>
              <a:t>6.    No avanzar en la recursión, ya que se utiliza en cada llamado recursivo el mismo árbol enviado como parámetro en lugar de utilizar los sub árboles izquierdo y derecho. Y así  incurrir en una recursión infinita.</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33"/>
          <p:cNvPicPr preferRelativeResize="0"/>
          <p:nvPr/>
        </p:nvPicPr>
        <p:blipFill>
          <a:blip r:embed="rId3">
            <a:alphaModFix/>
          </a:blip>
          <a:stretch>
            <a:fillRect/>
          </a:stretch>
        </p:blipFill>
        <p:spPr>
          <a:xfrm>
            <a:off x="304800" y="1388775"/>
            <a:ext cx="7953024" cy="3499625"/>
          </a:xfrm>
          <a:prstGeom prst="rect">
            <a:avLst/>
          </a:prstGeom>
          <a:noFill/>
          <a:ln>
            <a:noFill/>
          </a:ln>
        </p:spPr>
      </p:pic>
      <p:sp>
        <p:nvSpPr>
          <p:cNvPr id="259" name="Google Shape;259;p3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419"/>
              <a:t>Otra Alternativa</a:t>
            </a:r>
            <a:endParaRPr/>
          </a:p>
        </p:txBody>
      </p:sp>
      <p:sp>
        <p:nvSpPr>
          <p:cNvPr id="260" name="Google Shape;260;p33"/>
          <p:cNvSpPr/>
          <p:nvPr/>
        </p:nvSpPr>
        <p:spPr>
          <a:xfrm>
            <a:off x="1143975" y="3472400"/>
            <a:ext cx="4552800" cy="458400"/>
          </a:xfrm>
          <a:prstGeom prst="rect">
            <a:avLst/>
          </a:prstGeom>
          <a:noFill/>
          <a:ln w="28425" cap="sq"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a:solidFill>
                <a:srgbClr val="000000"/>
              </a:solidFill>
              <a:latin typeface="Arial"/>
              <a:ea typeface="Arial"/>
              <a:cs typeface="Arial"/>
              <a:sym typeface="Arial"/>
            </a:endParaRPr>
          </a:p>
        </p:txBody>
      </p:sp>
      <p:sp>
        <p:nvSpPr>
          <p:cNvPr id="261" name="Google Shape;261;p33"/>
          <p:cNvSpPr/>
          <p:nvPr/>
        </p:nvSpPr>
        <p:spPr>
          <a:xfrm>
            <a:off x="1143975" y="4088150"/>
            <a:ext cx="4552800" cy="458400"/>
          </a:xfrm>
          <a:prstGeom prst="rect">
            <a:avLst/>
          </a:prstGeom>
          <a:noFill/>
          <a:ln w="28425" cap="sq"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100" b="0" i="0" u="none">
              <a:solidFill>
                <a:srgbClr val="000000"/>
              </a:solidFill>
              <a:latin typeface="Arial"/>
              <a:ea typeface="Arial"/>
              <a:cs typeface="Arial"/>
              <a:sym typeface="Arial"/>
            </a:endParaRPr>
          </a:p>
        </p:txBody>
      </p:sp>
      <p:sp>
        <p:nvSpPr>
          <p:cNvPr id="262" name="Google Shape;262;p33"/>
          <p:cNvSpPr txBox="1"/>
          <p:nvPr/>
        </p:nvSpPr>
        <p:spPr>
          <a:xfrm>
            <a:off x="5932275" y="3176000"/>
            <a:ext cx="2184600" cy="1620300"/>
          </a:xfrm>
          <a:prstGeom prst="rect">
            <a:avLst/>
          </a:prstGeom>
          <a:noFill/>
          <a:ln w="9525" cap="flat" cmpd="sng">
            <a:solidFill>
              <a:srgbClr val="000000"/>
            </a:solidFill>
            <a:prstDash val="solid"/>
            <a:round/>
            <a:headEnd type="none" w="sm" len="sm"/>
            <a:tailEnd type="none" w="sm" len="sm"/>
          </a:ln>
        </p:spPr>
        <p:txBody>
          <a:bodyPr spcFirstLastPara="1" wrap="square" lIns="90000" tIns="46800" rIns="90000" bIns="46800" anchor="t" anchorCtr="0">
            <a:noAutofit/>
          </a:bodyPr>
          <a:lstStyle/>
          <a:p>
            <a:pPr marL="0" marR="0" lvl="0" indent="0" algn="just" rtl="0">
              <a:lnSpc>
                <a:spcPct val="100000"/>
              </a:lnSpc>
              <a:spcBef>
                <a:spcPts val="0"/>
              </a:spcBef>
              <a:spcAft>
                <a:spcPts val="0"/>
              </a:spcAft>
              <a:buClr>
                <a:srgbClr val="000000"/>
              </a:buClr>
              <a:buSzPts val="1200"/>
              <a:buFont typeface="Arial"/>
              <a:buNone/>
            </a:pPr>
            <a:r>
              <a:rPr lang="es-419" sz="1200" b="1" i="0" u="none">
                <a:solidFill>
                  <a:srgbClr val="000000"/>
                </a:solidFill>
                <a:latin typeface="Arial"/>
                <a:ea typeface="Arial"/>
                <a:cs typeface="Arial"/>
                <a:sym typeface="Arial"/>
              </a:rPr>
              <a:t>Diferencia con la solución anterior: </a:t>
            </a:r>
            <a:r>
              <a:rPr lang="es-419" sz="1200" b="0" i="0" u="none">
                <a:solidFill>
                  <a:srgbClr val="000000"/>
                </a:solidFill>
                <a:latin typeface="Arial"/>
                <a:ea typeface="Arial"/>
                <a:cs typeface="Arial"/>
                <a:sym typeface="Arial"/>
              </a:rPr>
              <a:t>Las operaciones aritméticas el </a:t>
            </a:r>
            <a:r>
              <a:rPr lang="es-419" sz="1200"/>
              <a:t>número</a:t>
            </a:r>
            <a:r>
              <a:rPr lang="es-419" sz="1200" b="0" i="0" u="none">
                <a:solidFill>
                  <a:srgbClr val="000000"/>
                </a:solidFill>
                <a:latin typeface="Arial"/>
                <a:ea typeface="Arial"/>
                <a:cs typeface="Arial"/>
                <a:sym typeface="Arial"/>
              </a:rPr>
              <a:t> de nivel actual (</a:t>
            </a:r>
            <a:r>
              <a:rPr lang="es-419" sz="1200" b="1" i="0" u="none">
                <a:solidFill>
                  <a:srgbClr val="000000"/>
                </a:solidFill>
                <a:latin typeface="Arial"/>
                <a:ea typeface="Arial"/>
                <a:cs typeface="Arial"/>
                <a:sym typeface="Arial"/>
              </a:rPr>
              <a:t>nivel</a:t>
            </a:r>
            <a:r>
              <a:rPr lang="es-419" sz="1200" b="0" i="0" u="none">
                <a:solidFill>
                  <a:srgbClr val="000000"/>
                </a:solidFill>
                <a:latin typeface="Arial"/>
                <a:ea typeface="Arial"/>
                <a:cs typeface="Arial"/>
                <a:sym typeface="Arial"/>
              </a:rPr>
              <a:t>) y la suma acumulada desde la raíz hasta el nodo actual (</a:t>
            </a:r>
            <a:r>
              <a:rPr lang="es-419" sz="1200" b="1" i="0" u="none">
                <a:solidFill>
                  <a:srgbClr val="000000"/>
                </a:solidFill>
                <a:latin typeface="Arial"/>
                <a:ea typeface="Arial"/>
                <a:cs typeface="Arial"/>
                <a:sym typeface="Arial"/>
              </a:rPr>
              <a:t>sumaParcial</a:t>
            </a:r>
            <a:r>
              <a:rPr lang="es-419" sz="1200" b="0" i="0" u="none">
                <a:solidFill>
                  <a:srgbClr val="000000"/>
                </a:solidFill>
                <a:latin typeface="Arial"/>
                <a:ea typeface="Arial"/>
                <a:cs typeface="Arial"/>
                <a:sym typeface="Arial"/>
              </a:rPr>
              <a:t>)  se realizan fuera del llamado recursivo.</a:t>
            </a:r>
            <a:endParaRPr/>
          </a:p>
        </p:txBody>
      </p:sp>
      <p:sp>
        <p:nvSpPr>
          <p:cNvPr id="263" name="Google Shape;263;p33"/>
          <p:cNvSpPr txBox="1"/>
          <p:nvPr/>
        </p:nvSpPr>
        <p:spPr>
          <a:xfrm>
            <a:off x="5067300" y="1567550"/>
            <a:ext cx="3239400" cy="591900"/>
          </a:xfrm>
          <a:prstGeom prst="rect">
            <a:avLst/>
          </a:prstGeom>
          <a:noFill/>
          <a:ln>
            <a:noFill/>
          </a:ln>
        </p:spPr>
        <p:txBody>
          <a:bodyPr spcFirstLastPara="1" wrap="square" lIns="90000" tIns="46800" rIns="90000" bIns="46800" anchor="t" anchorCtr="0">
            <a:noAutofit/>
          </a:bodyPr>
          <a:lstStyle/>
          <a:p>
            <a:pPr marL="0" marR="0" lvl="0" indent="0" algn="r" rtl="0">
              <a:lnSpc>
                <a:spcPct val="100000"/>
              </a:lnSpc>
              <a:spcBef>
                <a:spcPts val="0"/>
              </a:spcBef>
              <a:spcAft>
                <a:spcPts val="0"/>
              </a:spcAft>
              <a:buClr>
                <a:srgbClr val="FF0000"/>
              </a:buClr>
              <a:buSzPts val="1800"/>
              <a:buFont typeface="Arial"/>
              <a:buNone/>
            </a:pPr>
            <a:r>
              <a:rPr lang="es-419" sz="1700" b="1" i="0" u="none">
                <a:solidFill>
                  <a:srgbClr val="FF0000"/>
                </a:solidFill>
                <a:latin typeface="Arial"/>
                <a:ea typeface="Arial"/>
                <a:cs typeface="Arial"/>
                <a:sym typeface="Arial"/>
              </a:rPr>
              <a:t>¿Resuelve lo solicitado?</a:t>
            </a:r>
            <a:endParaRPr sz="1300"/>
          </a:p>
          <a:p>
            <a:pPr marL="0" marR="0" lvl="0" indent="0" algn="r" rtl="0">
              <a:lnSpc>
                <a:spcPct val="100000"/>
              </a:lnSpc>
              <a:spcBef>
                <a:spcPts val="0"/>
              </a:spcBef>
              <a:spcAft>
                <a:spcPts val="0"/>
              </a:spcAft>
              <a:buClr>
                <a:srgbClr val="000000"/>
              </a:buClr>
              <a:buSzPts val="1800"/>
              <a:buFont typeface="Arial"/>
              <a:buNone/>
            </a:pPr>
            <a:endParaRPr sz="1700" b="1" i="0" u="none">
              <a:solidFill>
                <a:srgbClr val="FF0000"/>
              </a:solidFill>
              <a:latin typeface="Arial"/>
              <a:ea typeface="Arial"/>
              <a:cs typeface="Arial"/>
              <a:sym typeface="Arial"/>
            </a:endParaRPr>
          </a:p>
          <a:p>
            <a:pPr marL="0" marR="0" lvl="0" indent="0" algn="r" rtl="0">
              <a:lnSpc>
                <a:spcPct val="100000"/>
              </a:lnSpc>
              <a:spcBef>
                <a:spcPts val="0"/>
              </a:spcBef>
              <a:spcAft>
                <a:spcPts val="0"/>
              </a:spcAft>
              <a:buClr>
                <a:srgbClr val="FF0000"/>
              </a:buClr>
              <a:buSzPts val="1800"/>
              <a:buFont typeface="Arial"/>
              <a:buNone/>
            </a:pPr>
            <a:r>
              <a:rPr lang="es-419" sz="1700" b="1" i="0" u="none">
                <a:solidFill>
                  <a:srgbClr val="FF0000"/>
                </a:solidFill>
                <a:latin typeface="Arial"/>
                <a:ea typeface="Arial"/>
                <a:cs typeface="Arial"/>
                <a:sym typeface="Arial"/>
              </a:rPr>
              <a:t>¿Por qué?</a:t>
            </a:r>
            <a:endParaRPr sz="1300"/>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887</Words>
  <Application>Microsoft Office PowerPoint</Application>
  <PresentationFormat>Presentación en pantalla (16:9)</PresentationFormat>
  <Paragraphs>81</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Montserrat</vt:lpstr>
      <vt:lpstr>Lato</vt:lpstr>
      <vt:lpstr>Arial</vt:lpstr>
      <vt:lpstr>Focus</vt:lpstr>
      <vt:lpstr>Imprimir elementos en orden</vt:lpstr>
      <vt:lpstr>Imprimir elementos en orden inverso</vt:lpstr>
      <vt:lpstr>Pila de ejecución</vt:lpstr>
      <vt:lpstr>Presentación de PowerPoint</vt:lpstr>
      <vt:lpstr>sumadorArbol</vt:lpstr>
      <vt:lpstr>Árbol espejo</vt:lpstr>
      <vt:lpstr>Ejercicio</vt:lpstr>
      <vt:lpstr>Solución</vt:lpstr>
      <vt:lpstr>Trayectoria pesada</vt:lpstr>
      <vt:lpstr>Enunciado</vt:lpstr>
      <vt:lpstr>Forma de encarar el ejercicio  </vt:lpstr>
      <vt:lpstr>Implementación</vt:lpstr>
      <vt:lpstr>Errores comunes</vt:lpstr>
      <vt:lpstr>Errores comunes</vt:lpstr>
      <vt:lpstr>Errores comunes</vt:lpstr>
      <vt:lpstr>Otra Alternativa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Imprimir elementos en orden</dc:title>
  <cp:lastModifiedBy>Sofia Avila</cp:lastModifiedBy>
  <cp:revision>1</cp:revision>
  <dcterms:modified xsi:type="dcterms:W3CDTF">2022-05-06T11:48:24Z</dcterms:modified>
</cp:coreProperties>
</file>