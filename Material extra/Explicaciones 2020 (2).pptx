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9" r:id="rId2"/>
    <p:sldId id="261" r:id="rId3"/>
    <p:sldId id="262" r:id="rId4"/>
    <p:sldId id="263" r:id="rId5"/>
    <p:sldId id="264" r:id="rId6"/>
    <p:sldId id="265" r:id="rId7"/>
    <p:sldId id="266" r:id="rId8"/>
    <p:sldId id="267" r:id="rId9"/>
    <p:sldId id="268" r:id="rId10"/>
    <p:sldId id="269" r:id="rId11"/>
  </p:sldIdLst>
  <p:sldSz cx="9144000" cy="5143500" type="screen16x9"/>
  <p:notesSz cx="6858000" cy="9144000"/>
  <p:embeddedFontLst>
    <p:embeddedFont>
      <p:font typeface="Lato" panose="020F0502020204030203" pitchFamily="34" charset="0"/>
      <p:regular r:id="rId13"/>
      <p:bold r:id="rId14"/>
      <p:italic r:id="rId15"/>
      <p:boldItalic r:id="rId16"/>
    </p:embeddedFont>
    <p:embeddedFont>
      <p:font typeface="Montserrat" panose="00000500000000000000" pitchFamily="2" charset="0"/>
      <p:regular r:id="rId17"/>
      <p:bold r:id="rId18"/>
      <p:italic r:id="rId19"/>
      <p:boldItalic r:id="rId20"/>
    </p:embeddedFont>
    <p:embeddedFont>
      <p:font typeface="Roboto"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77b3c183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77b3c183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77553307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77553307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77553307c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77553307c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77b3c1834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77b3c1834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77b3c18340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77b3c18340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77553307ce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77553307c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77553307c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77553307c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77553307c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77553307c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77b3c18340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77b3c18340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77b3c1834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77b3c1834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Ejercicio 7</a:t>
            </a:r>
            <a:endParaRPr/>
          </a:p>
        </p:txBody>
      </p:sp>
      <p:sp>
        <p:nvSpPr>
          <p:cNvPr id="152" name="Google Shape;152;p16"/>
          <p:cNvSpPr txBox="1">
            <a:spLocks noGrp="1"/>
          </p:cNvSpPr>
          <p:nvPr>
            <p:ph type="body" idx="1"/>
          </p:nvPr>
        </p:nvSpPr>
        <p:spPr>
          <a:xfrm>
            <a:off x="1297500" y="13389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500"/>
              <a:t>Sea una red de agua potable, la cual comienza en un caño maestro y el mismo se va dividiendo sucesivamente hasta llegar a cada una de las casas. Por el caño maestro ingresan x cantidad de litros y en la medida que el caño se divide, </a:t>
            </a:r>
            <a:r>
              <a:rPr lang="es-419" sz="1500" b="1"/>
              <a:t>el caudal se divide en partes iguales</a:t>
            </a:r>
            <a:r>
              <a:rPr lang="es-419" sz="1500"/>
              <a:t> en cada una de las divisiones. Es decir, si un caño maestro recibe 1000 litros y se divide en 4 partes, cada división tiene un caudal de 250 litros. Luego, si una de esas divisiones se vuelve a dividir en 5 partes, cada una tendrá un caudal de 50 litros y así sucesivamente. </a:t>
            </a:r>
            <a:endParaRPr sz="1500"/>
          </a:p>
          <a:p>
            <a:pPr marL="0" lvl="0" indent="0" algn="l" rtl="0">
              <a:spcBef>
                <a:spcPts val="1600"/>
              </a:spcBef>
              <a:spcAft>
                <a:spcPts val="1600"/>
              </a:spcAft>
              <a:buNone/>
            </a:pPr>
            <a:r>
              <a:rPr lang="es-419" sz="1500"/>
              <a:t>Usted debe </a:t>
            </a:r>
            <a:r>
              <a:rPr lang="es-419" sz="1500" b="1"/>
              <a:t>implementar una clase RedDeAguaPotable</a:t>
            </a:r>
            <a:r>
              <a:rPr lang="es-419" sz="1500"/>
              <a:t> que contenga un método </a:t>
            </a:r>
            <a:r>
              <a:rPr lang="es-419" sz="1500" b="1"/>
              <a:t>public double minimoCaudal()</a:t>
            </a:r>
            <a:r>
              <a:rPr lang="es-419" sz="1500"/>
              <a:t>, que calcule el caudal de cada nodo y determine cuál es el mínimo caudal que recibe una casa.</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Solución</a:t>
            </a:r>
            <a:endParaRPr/>
          </a:p>
        </p:txBody>
      </p:sp>
      <p:pic>
        <p:nvPicPr>
          <p:cNvPr id="164" name="Google Shape;164;p18"/>
          <p:cNvPicPr preferRelativeResize="0"/>
          <p:nvPr/>
        </p:nvPicPr>
        <p:blipFill>
          <a:blip r:embed="rId3">
            <a:alphaModFix/>
          </a:blip>
          <a:stretch>
            <a:fillRect/>
          </a:stretch>
        </p:blipFill>
        <p:spPr>
          <a:xfrm>
            <a:off x="697625" y="1385500"/>
            <a:ext cx="8238650" cy="3530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Otra solución</a:t>
            </a:r>
            <a:endParaRPr/>
          </a:p>
          <a:p>
            <a:pPr marL="0" lvl="0" indent="0" algn="l" rtl="0">
              <a:spcBef>
                <a:spcPts val="0"/>
              </a:spcBef>
              <a:spcAft>
                <a:spcPts val="0"/>
              </a:spcAft>
              <a:buNone/>
            </a:pPr>
            <a:endParaRPr/>
          </a:p>
        </p:txBody>
      </p:sp>
      <p:pic>
        <p:nvPicPr>
          <p:cNvPr id="170" name="Google Shape;170;p19"/>
          <p:cNvPicPr preferRelativeResize="0"/>
          <p:nvPr/>
        </p:nvPicPr>
        <p:blipFill>
          <a:blip r:embed="rId3">
            <a:alphaModFix/>
          </a:blip>
          <a:stretch>
            <a:fillRect/>
          </a:stretch>
        </p:blipFill>
        <p:spPr>
          <a:xfrm>
            <a:off x="1255500" y="986000"/>
            <a:ext cx="6232950" cy="3957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a:t>
            </a:r>
            <a:endParaRPr/>
          </a:p>
        </p:txBody>
      </p:sp>
      <p:sp>
        <p:nvSpPr>
          <p:cNvPr id="176" name="Google Shape;176;p2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77" name="Google Shape;177;p20"/>
          <p:cNvPicPr preferRelativeResize="0"/>
          <p:nvPr/>
        </p:nvPicPr>
        <p:blipFill>
          <a:blip r:embed="rId3">
            <a:alphaModFix/>
          </a:blip>
          <a:stretch>
            <a:fillRect/>
          </a:stretch>
        </p:blipFill>
        <p:spPr>
          <a:xfrm>
            <a:off x="294275" y="1088124"/>
            <a:ext cx="6482926" cy="2246825"/>
          </a:xfrm>
          <a:prstGeom prst="rect">
            <a:avLst/>
          </a:prstGeom>
          <a:noFill/>
          <a:ln>
            <a:noFill/>
          </a:ln>
        </p:spPr>
      </p:pic>
      <p:pic>
        <p:nvPicPr>
          <p:cNvPr id="178" name="Google Shape;178;p20"/>
          <p:cNvPicPr preferRelativeResize="0"/>
          <p:nvPr/>
        </p:nvPicPr>
        <p:blipFill>
          <a:blip r:embed="rId4">
            <a:alphaModFix/>
          </a:blip>
          <a:stretch>
            <a:fillRect/>
          </a:stretch>
        </p:blipFill>
        <p:spPr>
          <a:xfrm>
            <a:off x="3421100" y="2754425"/>
            <a:ext cx="5322915" cy="2246825"/>
          </a:xfrm>
          <a:prstGeom prst="rect">
            <a:avLst/>
          </a:prstGeom>
          <a:noFill/>
          <a:ln>
            <a:noFill/>
          </a:ln>
        </p:spPr>
      </p:pic>
      <p:sp>
        <p:nvSpPr>
          <p:cNvPr id="179" name="Google Shape;179;p20"/>
          <p:cNvSpPr txBox="1"/>
          <p:nvPr/>
        </p:nvSpPr>
        <p:spPr>
          <a:xfrm>
            <a:off x="5609200" y="4275350"/>
            <a:ext cx="2964900" cy="72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0000"/>
                </a:solidFill>
              </a:rPr>
              <a:t>No retorna correctamente el caudal, en su lugar, retorna el dato de la hoja más chica.</a:t>
            </a:r>
            <a:endParaRPr sz="1600">
              <a:solidFill>
                <a:srgbClr val="FF0000"/>
              </a:solidFill>
              <a:latin typeface="Lato"/>
              <a:ea typeface="Lato"/>
              <a:cs typeface="Lato"/>
              <a:sym typeface="Lato"/>
            </a:endParaRPr>
          </a:p>
        </p:txBody>
      </p:sp>
      <p:sp>
        <p:nvSpPr>
          <p:cNvPr id="180" name="Google Shape;180;p20"/>
          <p:cNvSpPr/>
          <p:nvPr/>
        </p:nvSpPr>
        <p:spPr>
          <a:xfrm>
            <a:off x="940025" y="1510325"/>
            <a:ext cx="5200800" cy="164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0"/>
          <p:cNvSpPr/>
          <p:nvPr/>
        </p:nvSpPr>
        <p:spPr>
          <a:xfrm>
            <a:off x="4117150" y="3205025"/>
            <a:ext cx="2106000" cy="164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a:t>
            </a:r>
            <a:endParaRPr/>
          </a:p>
        </p:txBody>
      </p:sp>
      <p:pic>
        <p:nvPicPr>
          <p:cNvPr id="187" name="Google Shape;187;p21"/>
          <p:cNvPicPr preferRelativeResize="0"/>
          <p:nvPr/>
        </p:nvPicPr>
        <p:blipFill>
          <a:blip r:embed="rId3">
            <a:alphaModFix/>
          </a:blip>
          <a:stretch>
            <a:fillRect/>
          </a:stretch>
        </p:blipFill>
        <p:spPr>
          <a:xfrm>
            <a:off x="1149638" y="1567550"/>
            <a:ext cx="5991225" cy="2571750"/>
          </a:xfrm>
          <a:prstGeom prst="rect">
            <a:avLst/>
          </a:prstGeom>
          <a:noFill/>
          <a:ln>
            <a:noFill/>
          </a:ln>
        </p:spPr>
      </p:pic>
      <p:sp>
        <p:nvSpPr>
          <p:cNvPr id="188" name="Google Shape;188;p21"/>
          <p:cNvSpPr/>
          <p:nvPr/>
        </p:nvSpPr>
        <p:spPr>
          <a:xfrm>
            <a:off x="4915550" y="1567550"/>
            <a:ext cx="1551600" cy="18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1"/>
          <p:cNvSpPr txBox="1"/>
          <p:nvPr/>
        </p:nvSpPr>
        <p:spPr>
          <a:xfrm>
            <a:off x="4833800" y="1273425"/>
            <a:ext cx="1715100" cy="3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100">
                <a:solidFill>
                  <a:schemeClr val="lt1"/>
                </a:solidFill>
                <a:latin typeface="Roboto"/>
                <a:ea typeface="Roboto"/>
                <a:cs typeface="Roboto"/>
                <a:sym typeface="Roboto"/>
              </a:rPr>
              <a:t>Usar tipos genéricos</a:t>
            </a:r>
            <a:endParaRPr sz="1500">
              <a:solidFill>
                <a:schemeClr val="lt1"/>
              </a:solidFill>
              <a:latin typeface="Lato"/>
              <a:ea typeface="Lato"/>
              <a:cs typeface="Lato"/>
              <a:sym typeface="Lato"/>
            </a:endParaRPr>
          </a:p>
        </p:txBody>
      </p:sp>
      <p:sp>
        <p:nvSpPr>
          <p:cNvPr id="190" name="Google Shape;190;p21"/>
          <p:cNvSpPr/>
          <p:nvPr/>
        </p:nvSpPr>
        <p:spPr>
          <a:xfrm>
            <a:off x="5010275" y="1804675"/>
            <a:ext cx="1609200" cy="237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1"/>
          <p:cNvSpPr txBox="1"/>
          <p:nvPr/>
        </p:nvSpPr>
        <p:spPr>
          <a:xfrm>
            <a:off x="4986200" y="2014500"/>
            <a:ext cx="17856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0000"/>
                </a:solidFill>
                <a:latin typeface="Lato"/>
                <a:ea typeface="Lato"/>
                <a:cs typeface="Lato"/>
                <a:sym typeface="Lato"/>
              </a:rPr>
              <a:t>Entra en loop infinito</a:t>
            </a:r>
            <a:endParaRPr sz="1200">
              <a:solidFill>
                <a:srgbClr val="FF0000"/>
              </a:solidFill>
              <a:latin typeface="Lato"/>
              <a:ea typeface="Lato"/>
              <a:cs typeface="Lato"/>
              <a:sym typeface="Lato"/>
            </a:endParaRPr>
          </a:p>
        </p:txBody>
      </p:sp>
      <p:sp>
        <p:nvSpPr>
          <p:cNvPr id="192" name="Google Shape;192;p21"/>
          <p:cNvSpPr txBox="1"/>
          <p:nvPr/>
        </p:nvSpPr>
        <p:spPr>
          <a:xfrm>
            <a:off x="2165250" y="3260550"/>
            <a:ext cx="37734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300">
                <a:solidFill>
                  <a:srgbClr val="FF0000"/>
                </a:solidFill>
                <a:latin typeface="Lato"/>
                <a:ea typeface="Lato"/>
                <a:cs typeface="Lato"/>
                <a:sym typeface="Lato"/>
              </a:rPr>
              <a:t>No tiene en cuenta lo que devuelven los hijos. </a:t>
            </a:r>
            <a:endParaRPr sz="1300">
              <a:solidFill>
                <a:srgbClr val="FF0000"/>
              </a:solidFill>
              <a:latin typeface="Lato"/>
              <a:ea typeface="Lato"/>
              <a:cs typeface="Lato"/>
              <a:sym typeface="Lato"/>
            </a:endParaRPr>
          </a:p>
        </p:txBody>
      </p:sp>
      <p:sp>
        <p:nvSpPr>
          <p:cNvPr id="193" name="Google Shape;193;p21"/>
          <p:cNvSpPr/>
          <p:nvPr/>
        </p:nvSpPr>
        <p:spPr>
          <a:xfrm>
            <a:off x="2165250" y="3098850"/>
            <a:ext cx="3833400" cy="237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1"/>
          <p:cNvSpPr txBox="1"/>
          <p:nvPr/>
        </p:nvSpPr>
        <p:spPr>
          <a:xfrm>
            <a:off x="1225850" y="2791550"/>
            <a:ext cx="708600" cy="54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800">
                <a:solidFill>
                  <a:srgbClr val="FF0000"/>
                </a:solidFill>
                <a:latin typeface="Lato"/>
                <a:ea typeface="Lato"/>
                <a:cs typeface="Lato"/>
                <a:sym typeface="Lato"/>
              </a:rPr>
              <a:t>Falta comenzar() la lista</a:t>
            </a:r>
            <a:endParaRPr sz="800">
              <a:solidFill>
                <a:srgbClr val="FF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a:t>
            </a:r>
            <a:endParaRPr/>
          </a:p>
        </p:txBody>
      </p:sp>
      <p:pic>
        <p:nvPicPr>
          <p:cNvPr id="200" name="Google Shape;200;p22"/>
          <p:cNvPicPr preferRelativeResize="0"/>
          <p:nvPr/>
        </p:nvPicPr>
        <p:blipFill>
          <a:blip r:embed="rId3">
            <a:alphaModFix/>
          </a:blip>
          <a:stretch>
            <a:fillRect/>
          </a:stretch>
        </p:blipFill>
        <p:spPr>
          <a:xfrm>
            <a:off x="401226" y="1041600"/>
            <a:ext cx="8220975" cy="3765800"/>
          </a:xfrm>
          <a:prstGeom prst="rect">
            <a:avLst/>
          </a:prstGeom>
          <a:noFill/>
          <a:ln>
            <a:noFill/>
          </a:ln>
        </p:spPr>
      </p:pic>
      <p:sp>
        <p:nvSpPr>
          <p:cNvPr id="201" name="Google Shape;201;p22"/>
          <p:cNvSpPr/>
          <p:nvPr/>
        </p:nvSpPr>
        <p:spPr>
          <a:xfrm>
            <a:off x="1168275" y="2795650"/>
            <a:ext cx="1397400" cy="257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2"/>
          <p:cNvSpPr txBox="1"/>
          <p:nvPr/>
        </p:nvSpPr>
        <p:spPr>
          <a:xfrm>
            <a:off x="2565675" y="2760750"/>
            <a:ext cx="24999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a:solidFill>
                  <a:srgbClr val="FF0000"/>
                </a:solidFill>
                <a:latin typeface="Lato"/>
                <a:ea typeface="Lato"/>
                <a:cs typeface="Lato"/>
                <a:sym typeface="Lato"/>
              </a:rPr>
              <a:t>uso incorrecto de parámetro</a:t>
            </a:r>
            <a:endParaRPr>
              <a:solidFill>
                <a:srgbClr val="FF0000"/>
              </a:solidFill>
              <a:latin typeface="Lato"/>
              <a:ea typeface="Lato"/>
              <a:cs typeface="Lato"/>
              <a:sym typeface="Lato"/>
            </a:endParaRPr>
          </a:p>
        </p:txBody>
      </p:sp>
      <p:sp>
        <p:nvSpPr>
          <p:cNvPr id="203" name="Google Shape;203;p22"/>
          <p:cNvSpPr/>
          <p:nvPr/>
        </p:nvSpPr>
        <p:spPr>
          <a:xfrm>
            <a:off x="5402550" y="2374175"/>
            <a:ext cx="1088100" cy="257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2"/>
          <p:cNvSpPr/>
          <p:nvPr/>
        </p:nvSpPr>
        <p:spPr>
          <a:xfrm>
            <a:off x="834700" y="2571750"/>
            <a:ext cx="3181500" cy="18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2"/>
          <p:cNvSpPr txBox="1"/>
          <p:nvPr/>
        </p:nvSpPr>
        <p:spPr>
          <a:xfrm>
            <a:off x="4016200" y="2537400"/>
            <a:ext cx="3665700" cy="25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100">
                <a:solidFill>
                  <a:srgbClr val="FF0000"/>
                </a:solidFill>
                <a:highlight>
                  <a:srgbClr val="FFFFFF"/>
                </a:highlight>
                <a:latin typeface="Roboto"/>
                <a:ea typeface="Roboto"/>
                <a:cs typeface="Roboto"/>
                <a:sym typeface="Roboto"/>
              </a:rPr>
              <a:t>Puede ser hoja y entrar al else. Es un error conceptual.</a:t>
            </a:r>
            <a:endParaRPr sz="1500">
              <a:solidFill>
                <a:srgbClr val="FF0000"/>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a:t>
            </a:r>
            <a:endParaRPr/>
          </a:p>
        </p:txBody>
      </p:sp>
      <p:grpSp>
        <p:nvGrpSpPr>
          <p:cNvPr id="211" name="Google Shape;211;p23"/>
          <p:cNvGrpSpPr/>
          <p:nvPr/>
        </p:nvGrpSpPr>
        <p:grpSpPr>
          <a:xfrm>
            <a:off x="703208" y="1307861"/>
            <a:ext cx="6243304" cy="2722040"/>
            <a:chOff x="703225" y="1307838"/>
            <a:chExt cx="6419850" cy="2428875"/>
          </a:xfrm>
        </p:grpSpPr>
        <p:pic>
          <p:nvPicPr>
            <p:cNvPr id="212" name="Google Shape;212;p23"/>
            <p:cNvPicPr preferRelativeResize="0"/>
            <p:nvPr/>
          </p:nvPicPr>
          <p:blipFill>
            <a:blip r:embed="rId3">
              <a:alphaModFix/>
            </a:blip>
            <a:stretch>
              <a:fillRect/>
            </a:stretch>
          </p:blipFill>
          <p:spPr>
            <a:xfrm>
              <a:off x="703225" y="1307838"/>
              <a:ext cx="6419850" cy="2428875"/>
            </a:xfrm>
            <a:prstGeom prst="rect">
              <a:avLst/>
            </a:prstGeom>
            <a:noFill/>
            <a:ln>
              <a:noFill/>
            </a:ln>
          </p:spPr>
        </p:pic>
        <p:sp>
          <p:nvSpPr>
            <p:cNvPr id="213" name="Google Shape;213;p23"/>
            <p:cNvSpPr/>
            <p:nvPr/>
          </p:nvSpPr>
          <p:spPr>
            <a:xfrm>
              <a:off x="794450" y="1307850"/>
              <a:ext cx="3369900" cy="273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3"/>
            <p:cNvSpPr txBox="1"/>
            <p:nvPr/>
          </p:nvSpPr>
          <p:spPr>
            <a:xfrm>
              <a:off x="2862200" y="1514200"/>
              <a:ext cx="24999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a:solidFill>
                    <a:srgbClr val="FF0000"/>
                  </a:solidFill>
                  <a:latin typeface="Lato"/>
                  <a:ea typeface="Lato"/>
                  <a:cs typeface="Lato"/>
                  <a:sym typeface="Lato"/>
                </a:rPr>
                <a:t>Modificar la firma del método</a:t>
              </a:r>
              <a:endParaRPr>
                <a:solidFill>
                  <a:srgbClr val="FF0000"/>
                </a:solidFill>
                <a:latin typeface="Lato"/>
                <a:ea typeface="Lato"/>
                <a:cs typeface="Lato"/>
                <a:sym typeface="Lato"/>
              </a:endParaRPr>
            </a:p>
          </p:txBody>
        </p:sp>
        <p:sp>
          <p:nvSpPr>
            <p:cNvPr id="215" name="Google Shape;215;p23"/>
            <p:cNvSpPr/>
            <p:nvPr/>
          </p:nvSpPr>
          <p:spPr>
            <a:xfrm>
              <a:off x="3086150" y="2689900"/>
              <a:ext cx="501600" cy="222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3"/>
            <p:cNvSpPr txBox="1"/>
            <p:nvPr/>
          </p:nvSpPr>
          <p:spPr>
            <a:xfrm>
              <a:off x="3086150" y="2969500"/>
              <a:ext cx="32535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a:solidFill>
                    <a:srgbClr val="FF0000"/>
                  </a:solidFill>
                  <a:latin typeface="Lato"/>
                  <a:ea typeface="Lato"/>
                  <a:cs typeface="Lato"/>
                  <a:sym typeface="Lato"/>
                </a:rPr>
                <a:t>Nombres de variables poco intuitivos</a:t>
              </a:r>
              <a:endParaRPr>
                <a:solidFill>
                  <a:srgbClr val="FF0000"/>
                </a:solidFill>
                <a:latin typeface="Lato"/>
                <a:ea typeface="Lato"/>
                <a:cs typeface="Lato"/>
                <a:sym typeface="Lato"/>
              </a:endParaRPr>
            </a:p>
          </p:txBody>
        </p:sp>
        <p:sp>
          <p:nvSpPr>
            <p:cNvPr id="217" name="Google Shape;217;p23"/>
            <p:cNvSpPr/>
            <p:nvPr/>
          </p:nvSpPr>
          <p:spPr>
            <a:xfrm>
              <a:off x="1808550" y="2474250"/>
              <a:ext cx="5140800" cy="222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3"/>
            <p:cNvSpPr txBox="1"/>
            <p:nvPr/>
          </p:nvSpPr>
          <p:spPr>
            <a:xfrm>
              <a:off x="3418250" y="2178250"/>
              <a:ext cx="3253500" cy="39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000">
                  <a:solidFill>
                    <a:srgbClr val="FF0000"/>
                  </a:solidFill>
                  <a:latin typeface="Lato"/>
                  <a:ea typeface="Lato"/>
                  <a:cs typeface="Lato"/>
                  <a:sym typeface="Lato"/>
                </a:rPr>
                <a:t>Crear una nueva instancia en cada llamada recursiva</a:t>
              </a:r>
              <a:endParaRPr sz="1000">
                <a:solidFill>
                  <a:srgbClr val="FF0000"/>
                </a:solidFill>
                <a:latin typeface="Lato"/>
                <a:ea typeface="Lato"/>
                <a:cs typeface="Lato"/>
                <a:sym typeface="Lato"/>
              </a:endParaRPr>
            </a:p>
          </p:txBody>
        </p:sp>
      </p:grpSp>
      <p:pic>
        <p:nvPicPr>
          <p:cNvPr id="219" name="Google Shape;219;p23"/>
          <p:cNvPicPr preferRelativeResize="0"/>
          <p:nvPr/>
        </p:nvPicPr>
        <p:blipFill>
          <a:blip r:embed="rId4">
            <a:alphaModFix/>
          </a:blip>
          <a:stretch>
            <a:fillRect/>
          </a:stretch>
        </p:blipFill>
        <p:spPr>
          <a:xfrm>
            <a:off x="3590775" y="3563100"/>
            <a:ext cx="4857750" cy="1219200"/>
          </a:xfrm>
          <a:prstGeom prst="rect">
            <a:avLst/>
          </a:prstGeom>
          <a:noFill/>
          <a:ln w="9525" cap="flat" cmpd="sng">
            <a:solidFill>
              <a:srgbClr val="000000"/>
            </a:solidFill>
            <a:prstDash val="solid"/>
            <a:round/>
            <a:headEnd type="none" w="sm" len="sm"/>
            <a:tailEnd type="none" w="sm" len="sm"/>
          </a:ln>
        </p:spPr>
      </p:pic>
      <p:sp>
        <p:nvSpPr>
          <p:cNvPr id="220" name="Google Shape;220;p23"/>
          <p:cNvSpPr/>
          <p:nvPr/>
        </p:nvSpPr>
        <p:spPr>
          <a:xfrm>
            <a:off x="5664225" y="3719350"/>
            <a:ext cx="1551600" cy="189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3"/>
          <p:cNvSpPr txBox="1"/>
          <p:nvPr/>
        </p:nvSpPr>
        <p:spPr>
          <a:xfrm>
            <a:off x="5664225" y="3969100"/>
            <a:ext cx="1715100" cy="3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100">
                <a:solidFill>
                  <a:srgbClr val="FF0000"/>
                </a:solidFill>
                <a:highlight>
                  <a:srgbClr val="FFFFFF"/>
                </a:highlight>
                <a:latin typeface="Roboto"/>
                <a:ea typeface="Roboto"/>
                <a:cs typeface="Roboto"/>
                <a:sym typeface="Roboto"/>
              </a:rPr>
              <a:t>Usar tipos genéricos</a:t>
            </a:r>
            <a:endParaRPr sz="1500">
              <a:solidFill>
                <a:srgbClr val="FF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4"/>
          <p:cNvPicPr preferRelativeResize="0"/>
          <p:nvPr/>
        </p:nvPicPr>
        <p:blipFill>
          <a:blip r:embed="rId3">
            <a:alphaModFix/>
          </a:blip>
          <a:stretch>
            <a:fillRect/>
          </a:stretch>
        </p:blipFill>
        <p:spPr>
          <a:xfrm>
            <a:off x="1276350" y="855274"/>
            <a:ext cx="5872226" cy="3912000"/>
          </a:xfrm>
          <a:prstGeom prst="rect">
            <a:avLst/>
          </a:prstGeom>
          <a:noFill/>
          <a:ln>
            <a:noFill/>
          </a:ln>
        </p:spPr>
      </p:pic>
      <p:sp>
        <p:nvSpPr>
          <p:cNvPr id="227" name="Google Shape;227;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 comunes</a:t>
            </a:r>
            <a:endParaRPr/>
          </a:p>
        </p:txBody>
      </p:sp>
      <p:sp>
        <p:nvSpPr>
          <p:cNvPr id="228" name="Google Shape;228;p24"/>
          <p:cNvSpPr/>
          <p:nvPr/>
        </p:nvSpPr>
        <p:spPr>
          <a:xfrm>
            <a:off x="1711175" y="1143450"/>
            <a:ext cx="2634000" cy="164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4"/>
          <p:cNvSpPr/>
          <p:nvPr/>
        </p:nvSpPr>
        <p:spPr>
          <a:xfrm>
            <a:off x="1960200" y="889975"/>
            <a:ext cx="433500" cy="231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4"/>
          <p:cNvSpPr txBox="1"/>
          <p:nvPr/>
        </p:nvSpPr>
        <p:spPr>
          <a:xfrm>
            <a:off x="4397400" y="1341125"/>
            <a:ext cx="2467200" cy="54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0000"/>
                </a:solidFill>
                <a:latin typeface="Lato"/>
                <a:ea typeface="Lato"/>
                <a:cs typeface="Lato"/>
                <a:sym typeface="Lato"/>
              </a:rPr>
              <a:t>Preguntar primero si es vacío, si el árbol fuera null tira error. </a:t>
            </a:r>
            <a:endParaRPr sz="1200">
              <a:solidFill>
                <a:srgbClr val="FF0000"/>
              </a:solidFill>
              <a:latin typeface="Lato"/>
              <a:ea typeface="Lato"/>
              <a:cs typeface="Lato"/>
              <a:sym typeface="Lato"/>
            </a:endParaRPr>
          </a:p>
        </p:txBody>
      </p:sp>
      <p:sp>
        <p:nvSpPr>
          <p:cNvPr id="231" name="Google Shape;231;p24"/>
          <p:cNvSpPr/>
          <p:nvPr/>
        </p:nvSpPr>
        <p:spPr>
          <a:xfrm>
            <a:off x="1711175" y="2829125"/>
            <a:ext cx="2634000" cy="164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4"/>
          <p:cNvSpPr txBox="1"/>
          <p:nvPr/>
        </p:nvSpPr>
        <p:spPr>
          <a:xfrm>
            <a:off x="4452625" y="2829125"/>
            <a:ext cx="20307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0000"/>
                </a:solidFill>
                <a:latin typeface="Lato"/>
                <a:ea typeface="Lato"/>
                <a:cs typeface="Lato"/>
                <a:sym typeface="Lato"/>
              </a:rPr>
              <a:t>División por cero si es hoja</a:t>
            </a:r>
            <a:endParaRPr sz="1200">
              <a:solidFill>
                <a:srgbClr val="FF0000"/>
              </a:solidFill>
              <a:latin typeface="Lato"/>
              <a:ea typeface="Lato"/>
              <a:cs typeface="Lato"/>
              <a:sym typeface="Lato"/>
            </a:endParaRPr>
          </a:p>
        </p:txBody>
      </p:sp>
      <p:sp>
        <p:nvSpPr>
          <p:cNvPr id="233" name="Google Shape;233;p24"/>
          <p:cNvSpPr txBox="1"/>
          <p:nvPr/>
        </p:nvSpPr>
        <p:spPr>
          <a:xfrm>
            <a:off x="1960200" y="2109825"/>
            <a:ext cx="3665700" cy="25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900">
                <a:solidFill>
                  <a:srgbClr val="FF0000"/>
                </a:solidFill>
                <a:highlight>
                  <a:srgbClr val="FFFFFF"/>
                </a:highlight>
                <a:latin typeface="Roboto"/>
                <a:ea typeface="Roboto"/>
                <a:cs typeface="Roboto"/>
                <a:sym typeface="Roboto"/>
              </a:rPr>
              <a:t>Como el árbol es una variable de instancia, se debería acceder desde un método de instancia</a:t>
            </a:r>
            <a:endParaRPr sz="1300">
              <a:solidFill>
                <a:srgbClr val="FF0000"/>
              </a:solidFill>
              <a:latin typeface="Lato"/>
              <a:ea typeface="Lato"/>
              <a:cs typeface="Lato"/>
              <a:sym typeface="Lato"/>
            </a:endParaRPr>
          </a:p>
        </p:txBody>
      </p:sp>
      <p:sp>
        <p:nvSpPr>
          <p:cNvPr id="234" name="Google Shape;234;p24"/>
          <p:cNvSpPr/>
          <p:nvPr/>
        </p:nvSpPr>
        <p:spPr>
          <a:xfrm>
            <a:off x="2022900" y="2481350"/>
            <a:ext cx="468000" cy="164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a:t>
            </a:r>
            <a:endParaRPr/>
          </a:p>
        </p:txBody>
      </p:sp>
      <p:sp>
        <p:nvSpPr>
          <p:cNvPr id="240" name="Google Shape;240;p2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41" name="Google Shape;241;p25"/>
          <p:cNvPicPr preferRelativeResize="0"/>
          <p:nvPr/>
        </p:nvPicPr>
        <p:blipFill>
          <a:blip r:embed="rId3">
            <a:alphaModFix/>
          </a:blip>
          <a:stretch>
            <a:fillRect/>
          </a:stretch>
        </p:blipFill>
        <p:spPr>
          <a:xfrm>
            <a:off x="1219800" y="968575"/>
            <a:ext cx="5801401" cy="3974926"/>
          </a:xfrm>
          <a:prstGeom prst="rect">
            <a:avLst/>
          </a:prstGeom>
          <a:noFill/>
          <a:ln>
            <a:noFill/>
          </a:ln>
        </p:spPr>
      </p:pic>
      <p:sp>
        <p:nvSpPr>
          <p:cNvPr id="242" name="Google Shape;242;p25"/>
          <p:cNvSpPr txBox="1"/>
          <p:nvPr/>
        </p:nvSpPr>
        <p:spPr>
          <a:xfrm>
            <a:off x="4108725" y="1636100"/>
            <a:ext cx="2299800" cy="111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0000"/>
                </a:solidFill>
                <a:latin typeface="Lato"/>
                <a:ea typeface="Lato"/>
                <a:cs typeface="Lato"/>
                <a:sym typeface="Lato"/>
              </a:rPr>
              <a:t>No se respeta la firma del método solicitado. No creó ni siquiera la variable de instancia árbol, ni tampoco usó un árbol de parámetro, por ende, no hay forma que pueda avanzar en la recursión.</a:t>
            </a:r>
            <a:endParaRPr sz="1200">
              <a:solidFill>
                <a:srgbClr val="FF0000"/>
              </a:solidFill>
              <a:latin typeface="Lato"/>
              <a:ea typeface="Lato"/>
              <a:cs typeface="Lato"/>
              <a:sym typeface="Lato"/>
            </a:endParaRPr>
          </a:p>
        </p:txBody>
      </p:sp>
      <p:sp>
        <p:nvSpPr>
          <p:cNvPr id="243" name="Google Shape;243;p25"/>
          <p:cNvSpPr/>
          <p:nvPr/>
        </p:nvSpPr>
        <p:spPr>
          <a:xfrm>
            <a:off x="1297500" y="985700"/>
            <a:ext cx="2949000" cy="264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5"/>
          <p:cNvSpPr/>
          <p:nvPr/>
        </p:nvSpPr>
        <p:spPr>
          <a:xfrm>
            <a:off x="4531125" y="3346725"/>
            <a:ext cx="1070400" cy="264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a:t>
            </a:r>
            <a:endParaRPr/>
          </a:p>
        </p:txBody>
      </p:sp>
      <p:sp>
        <p:nvSpPr>
          <p:cNvPr id="250" name="Google Shape;250;p2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51" name="Google Shape;251;p26"/>
          <p:cNvPicPr preferRelativeResize="0"/>
          <p:nvPr/>
        </p:nvPicPr>
        <p:blipFill>
          <a:blip r:embed="rId3">
            <a:alphaModFix/>
          </a:blip>
          <a:stretch>
            <a:fillRect/>
          </a:stretch>
        </p:blipFill>
        <p:spPr>
          <a:xfrm>
            <a:off x="1223500" y="1144175"/>
            <a:ext cx="6415174" cy="3550225"/>
          </a:xfrm>
          <a:prstGeom prst="rect">
            <a:avLst/>
          </a:prstGeom>
          <a:noFill/>
          <a:ln>
            <a:noFill/>
          </a:ln>
        </p:spPr>
      </p:pic>
      <p:sp>
        <p:nvSpPr>
          <p:cNvPr id="252" name="Google Shape;252;p26"/>
          <p:cNvSpPr/>
          <p:nvPr/>
        </p:nvSpPr>
        <p:spPr>
          <a:xfrm>
            <a:off x="1795750" y="2609450"/>
            <a:ext cx="1995900" cy="650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txBox="1"/>
          <p:nvPr/>
        </p:nvSpPr>
        <p:spPr>
          <a:xfrm>
            <a:off x="3891925" y="2748750"/>
            <a:ext cx="26736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0000"/>
                </a:solidFill>
                <a:latin typeface="Lato"/>
                <a:ea typeface="Lato"/>
                <a:cs typeface="Lato"/>
                <a:sym typeface="Lato"/>
              </a:rPr>
              <a:t>Recorrer la lista para saber el tamaño</a:t>
            </a:r>
            <a:endParaRPr sz="1200">
              <a:solidFill>
                <a:srgbClr val="FF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325</Words>
  <Application>Microsoft Office PowerPoint</Application>
  <PresentationFormat>Presentación en pantalla (16:9)</PresentationFormat>
  <Paragraphs>28</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Montserrat</vt:lpstr>
      <vt:lpstr>Roboto</vt:lpstr>
      <vt:lpstr>Lato</vt:lpstr>
      <vt:lpstr>Arial</vt:lpstr>
      <vt:lpstr>Focus</vt:lpstr>
      <vt:lpstr>Ejercicio 7</vt:lpstr>
      <vt:lpstr>Solución</vt:lpstr>
      <vt:lpstr>Otra solución </vt:lpstr>
      <vt:lpstr>Errores</vt:lpstr>
      <vt:lpstr>Errores</vt:lpstr>
      <vt:lpstr>Errores</vt:lpstr>
      <vt:lpstr>Errores</vt:lpstr>
      <vt:lpstr>Errores comunes</vt:lpstr>
      <vt:lpstr>Errores</vt:lpstr>
      <vt:lpstr>Errores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Ejercicio 7</dc:title>
  <cp:lastModifiedBy>Sofia Avila</cp:lastModifiedBy>
  <cp:revision>1</cp:revision>
  <dcterms:modified xsi:type="dcterms:W3CDTF">2022-05-06T11:50:29Z</dcterms:modified>
</cp:coreProperties>
</file>